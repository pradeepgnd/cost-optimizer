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(~20s)</a:t>
            </a:r>
          </a:p>
          <a:p>
            <a:r>
              <a:t>A founder spent over fifteen thousand dollars building with an AI app-builder, and no tool told them what the app would cost to build or to run. AI features are priced per token, and the bill only shows up after you've built.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0:20–0:40 (~20s)</a:t>
            </a:r>
          </a:p>
          <a:p>
            <a:r>
              <a:t>This is for solo founders. You describe your idea and 2–5 AI features. In about thirty seconds of reading the pack you see stage costs, margin, measured vs estimated tokens, checks, and a full trace. Anything we couldn't measure is labeled — never invented.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0:40–1:00 (~20s)</a:t>
            </a:r>
          </a:p>
          <a:p>
            <a:r>
              <a:t>Six steps: memory recall, Zetaris prices, Nightshift candidates, capped measured runs, checks plus Critic flags, then stage projection and evidence write-back. Unknown stays labeled.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1:00–1:15 (~15s)</a:t>
            </a:r>
          </a:p>
          <a:p>
            <a:r>
              <a:t>Demo walkthrough: open Streamlit, pick an example (e.g. example_3 writing assistant). Features and growth stages are editable assumptions. Prices will come from the Zetaris snapshot shown in the sidebar when live.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1:15–1:45 (~30s)</a:t>
            </a:r>
          </a:p>
          <a:p>
            <a:r>
              <a:t>Nothing that costs money runs without approval and a cap. Progress: H-MEM recall → Zetaris query → Nightshift routes → candidates → Planner on Nemotron Lightning → measured model requests → Critic on Nemotron Ultra. Cap: thirty attempts; spend reserved before each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1:45–2:05 (~20s)</a:t>
            </a:r>
          </a:p>
          <a:p>
            <a:r>
              <a:t>Same tools that run the agent produce the evidence. Zetaris for prices and write-back. Nightshift for every call. H-MEM for memory. Nemotron Lightning plans; Ultra critiques — flags only, never grades.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(~30s)</a:t>
            </a:r>
          </a:p>
          <a:p>
            <a:r>
              <a:t>The founder answer: monthly AI cost from fifty users to fifty thousand, with revenue and AI margin. Switch cheapest-per-feature vs one model for all. Totals only include what was priced; unknowns are lower bounds — never hidden as zero. We never claim dollar savings.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2:35–2:55 (~20s)</a:t>
            </a:r>
          </a:p>
          <a:p>
            <a:r>
              <a:t>Why measuring matters: estimates beside real usage. Projected-only stays labeled. Quality is rules plus human review; the Critic only flags. Trace is the proof for Track 02 — the agent that can explain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2:55–3:15 (~20s)</a:t>
            </a:r>
          </a:p>
          <a:p>
            <a:r>
              <a:t>AI SaaS Cost Advisor: know what your AI will cost before you build. Sponsors for data, routing, memory, and Nemotron planning/critique. Try it offline in sample mode.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058400" cy="365760"/>
          </a:xfrm>
          <a:prstGeom prst="rect">
            <a:avLst/>
          </a:prstGeom>
          <a:noFill/>
        </p:spPr>
        <p:txBody>
          <a:bodyPr wrap="square">
            <a:spAutoFit/>
          </a:bodyPr>
          <a:lstStyle/>
          <a:p>
            <a:pPr algn="l">
              <a:spcAft>
                <a:spcPts val="600"/>
              </a:spcAft>
              <a:defRPr sz="1400" b="1">
                <a:solidFill>
                  <a:srgbClr val="555555"/>
                </a:solidFill>
                <a:latin typeface="Arial"/>
              </a:defRPr>
            </a:pPr>
            <a:r>
              <a:t>Open Agent Hackathon 2026 · Track 02: The Agent That Can Explain Why</a:t>
            </a:r>
          </a:p>
        </p:txBody>
      </p:sp>
      <p:sp>
        <p:nvSpPr>
          <p:cNvPr id="5" name="TextBox 4"/>
          <p:cNvSpPr txBox="1"/>
          <p:nvPr/>
        </p:nvSpPr>
        <p:spPr>
          <a:xfrm>
            <a:off x="640080" y="1828800"/>
            <a:ext cx="10515600" cy="1280160"/>
          </a:xfrm>
          <a:prstGeom prst="rect">
            <a:avLst/>
          </a:prstGeom>
          <a:noFill/>
        </p:spPr>
        <p:txBody>
          <a:bodyPr wrap="square">
            <a:spAutoFit/>
          </a:bodyPr>
          <a:lstStyle/>
          <a:p>
            <a:pPr algn="l">
              <a:spcAft>
                <a:spcPts val="600"/>
              </a:spcAft>
              <a:defRPr sz="4800" b="1">
                <a:solidFill>
                  <a:srgbClr val="0A0A0A"/>
                </a:solidFill>
                <a:latin typeface="Arial"/>
              </a:defRPr>
            </a:pPr>
            <a:r>
              <a:t>AI SaaS Cost Advisor</a:t>
            </a:r>
          </a:p>
        </p:txBody>
      </p:sp>
      <p:sp>
        <p:nvSpPr>
          <p:cNvPr id="6" name="TextBox 5"/>
          <p:cNvSpPr txBox="1"/>
          <p:nvPr/>
        </p:nvSpPr>
        <p:spPr>
          <a:xfrm>
            <a:off x="640080" y="3200400"/>
            <a:ext cx="10058400" cy="1097280"/>
          </a:xfrm>
          <a:prstGeom prst="rect">
            <a:avLst/>
          </a:prstGeom>
          <a:noFill/>
        </p:spPr>
        <p:txBody>
          <a:bodyPr wrap="square">
            <a:spAutoFit/>
          </a:bodyPr>
          <a:lstStyle/>
          <a:p>
            <a:pPr algn="l">
              <a:spcAft>
                <a:spcPts val="600"/>
              </a:spcAft>
              <a:defRPr sz="2400" b="0">
                <a:solidFill>
                  <a:srgbClr val="3A3A3A"/>
                </a:solidFill>
                <a:latin typeface="Arial"/>
              </a:defRPr>
            </a:pPr>
            <a:r>
              <a:t>Over $15,000 spent building with an AI app-builder.</a:t>
            </a:r>
          </a:p>
          <a:p>
            <a:pPr algn="l">
              <a:spcAft>
                <a:spcPts val="600"/>
              </a:spcAft>
              <a:defRPr sz="2400" b="0">
                <a:solidFill>
                  <a:srgbClr val="3A3A3A"/>
                </a:solidFill>
                <a:latin typeface="Arial"/>
              </a:defRPr>
            </a:pPr>
            <a:r>
              <a:t>No tool estimated what the app would cost to build — or to run.</a:t>
            </a:r>
          </a:p>
        </p:txBody>
      </p:sp>
      <p:sp>
        <p:nvSpPr>
          <p:cNvPr id="7" name="TextBox 6"/>
          <p:cNvSpPr txBox="1"/>
          <p:nvPr/>
        </p:nvSpPr>
        <p:spPr>
          <a:xfrm>
            <a:off x="640080" y="5943600"/>
            <a:ext cx="10058400" cy="365760"/>
          </a:xfrm>
          <a:prstGeom prst="rect">
            <a:avLst/>
          </a:prstGeom>
          <a:noFill/>
        </p:spPr>
        <p:txBody>
          <a:bodyPr wrap="square">
            <a:spAutoFit/>
          </a:bodyPr>
          <a:lstStyle/>
          <a:p>
            <a:pPr algn="l">
              <a:spcAft>
                <a:spcPts val="600"/>
              </a:spcAft>
              <a:defRPr sz="1400" b="0">
                <a:solidFill>
                  <a:srgbClr val="0000FF"/>
                </a:solidFill>
                <a:latin typeface="Arial"/>
              </a:defRPr>
            </a:pPr>
            <a:r>
              <a:t>github.com/pradeepgnd/cost-optimizer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0972800" cy="548640"/>
          </a:xfrm>
          <a:prstGeom prst="rect">
            <a:avLst/>
          </a:prstGeom>
          <a:noFill/>
        </p:spPr>
        <p:txBody>
          <a:bodyPr wrap="square">
            <a:spAutoFit/>
          </a:bodyPr>
          <a:lstStyle/>
          <a:p>
            <a:pPr algn="l">
              <a:spcAft>
                <a:spcPts val="600"/>
              </a:spcAft>
              <a:defRPr sz="2800" b="1">
                <a:solidFill>
                  <a:srgbClr val="0A0A0A"/>
                </a:solidFill>
                <a:latin typeface="Arial"/>
              </a:defRPr>
            </a:pPr>
            <a:r>
              <a:t>Who it's for — and what you get</a:t>
            </a:r>
          </a:p>
        </p:txBody>
      </p:sp>
      <p:sp>
        <p:nvSpPr>
          <p:cNvPr id="6" name="TextBox 5"/>
          <p:cNvSpPr txBox="1"/>
          <p:nvPr/>
        </p:nvSpPr>
        <p:spPr>
          <a:xfrm>
            <a:off x="548640" y="1371600"/>
            <a:ext cx="10972800" cy="548640"/>
          </a:xfrm>
          <a:prstGeom prst="rect">
            <a:avLst/>
          </a:prstGeom>
          <a:noFill/>
        </p:spPr>
        <p:txBody>
          <a:bodyPr wrap="square">
            <a:spAutoFit/>
          </a:bodyPr>
          <a:lstStyle/>
          <a:p>
            <a:pPr algn="l">
              <a:spcAft>
                <a:spcPts val="600"/>
              </a:spcAft>
              <a:defRPr sz="1800" b="0">
                <a:solidFill>
                  <a:srgbClr val="3A3A3A"/>
                </a:solidFill>
                <a:latin typeface="Arial"/>
              </a:defRPr>
            </a:pPr>
            <a:r>
              <a:t>Solo founders building an AI SaaS product who need costs before they commit.</a:t>
            </a:r>
          </a:p>
        </p:txBody>
      </p:sp>
      <p:sp>
        <p:nvSpPr>
          <p:cNvPr id="7" name="TextBox 6"/>
          <p:cNvSpPr txBox="1"/>
          <p:nvPr/>
        </p:nvSpPr>
        <p:spPr>
          <a:xfrm>
            <a:off x="548640" y="2103120"/>
            <a:ext cx="10972800" cy="4114800"/>
          </a:xfrm>
          <a:prstGeom prst="rect">
            <a:avLst/>
          </a:prstGeom>
          <a:noFill/>
        </p:spPr>
        <p:txBody>
          <a:bodyPr wrap="square">
            <a:spAutoFit/>
          </a:bodyPr>
          <a:lstStyle/>
          <a:p>
            <a:pPr algn="l">
              <a:spcAft>
                <a:spcPts val="600"/>
              </a:spcAft>
              <a:defRPr sz="1800" b="0">
                <a:solidFill>
                  <a:srgbClr val="0A0A0A"/>
                </a:solidFill>
                <a:latin typeface="Arial"/>
              </a:defRPr>
            </a:pPr>
            <a:r>
              <a:t>Monthly AI cost per feature at Prototype 50 · Launch 500 · Traction 5,000 · Scale 50,000 users</a:t>
            </a:r>
          </a:p>
          <a:p>
            <a:pPr algn="l">
              <a:spcAft>
                <a:spcPts val="600"/>
              </a:spcAft>
              <a:defRPr sz="1800" b="0">
                <a:solidFill>
                  <a:srgbClr val="0A0A0A"/>
                </a:solidFill>
                <a:latin typeface="Arial"/>
              </a:defRPr>
            </a:pPr>
            <a:r>
              <a:t>Revenue and AI margin at each stage — plus the first stage over your budget</a:t>
            </a:r>
          </a:p>
          <a:p>
            <a:pPr algn="l">
              <a:spcAft>
                <a:spcPts val="600"/>
              </a:spcAft>
              <a:defRPr sz="1800" b="0">
                <a:solidFill>
                  <a:srgbClr val="0A0A0A"/>
                </a:solidFill>
                <a:latin typeface="Arial"/>
              </a:defRPr>
            </a:pPr>
            <a:r>
              <a:t>Measured token counts on your own example inputs, next to estimates</a:t>
            </a:r>
          </a:p>
          <a:p>
            <a:pPr algn="l">
              <a:spcAft>
                <a:spcPts val="600"/>
              </a:spcAft>
              <a:defRPr sz="1800" b="0">
                <a:solidFill>
                  <a:srgbClr val="0A0A0A"/>
                </a:solidFill>
                <a:latin typeface="Arial"/>
              </a:defRPr>
            </a:pPr>
            <a:r>
              <a:t>Pass/fail quality checks, Critic flags, and a full step-by-step trace</a:t>
            </a:r>
          </a:p>
          <a:p>
            <a:pPr algn="l">
              <a:spcAft>
                <a:spcPts val="600"/>
              </a:spcAft>
              <a:defRPr sz="1800" b="0">
                <a:solidFill>
                  <a:srgbClr val="0A0A0A"/>
                </a:solidFill>
                <a:latin typeface="Arial"/>
              </a:defRPr>
            </a:pPr>
            <a:r>
              <a:t>Unknown stays unknown — labeled estimated / projected only / unknown, never filled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0972800" cy="548640"/>
          </a:xfrm>
          <a:prstGeom prst="rect">
            <a:avLst/>
          </a:prstGeom>
          <a:noFill/>
        </p:spPr>
        <p:txBody>
          <a:bodyPr wrap="square">
            <a:spAutoFit/>
          </a:bodyPr>
          <a:lstStyle/>
          <a:p>
            <a:pPr algn="l">
              <a:spcAft>
                <a:spcPts val="600"/>
              </a:spcAft>
              <a:defRPr sz="2800" b="1">
                <a:solidFill>
                  <a:srgbClr val="0A0A0A"/>
                </a:solidFill>
                <a:latin typeface="Arial"/>
              </a:defRPr>
            </a:pPr>
            <a:r>
              <a:t>How the agent solves it</a:t>
            </a:r>
          </a:p>
        </p:txBody>
      </p:sp>
      <p:sp>
        <p:nvSpPr>
          <p:cNvPr id="6" name="TextBox 5"/>
          <p:cNvSpPr txBox="1"/>
          <p:nvPr/>
        </p:nvSpPr>
        <p:spPr>
          <a:xfrm>
            <a:off x="548640" y="1371600"/>
            <a:ext cx="10972800" cy="4572000"/>
          </a:xfrm>
          <a:prstGeom prst="rect">
            <a:avLst/>
          </a:prstGeom>
          <a:noFill/>
        </p:spPr>
        <p:txBody>
          <a:bodyPr wrap="square">
            <a:spAutoFit/>
          </a:bodyPr>
          <a:lstStyle/>
          <a:p>
            <a:pPr algn="l">
              <a:spcAft>
                <a:spcPts val="600"/>
              </a:spcAft>
              <a:defRPr sz="2000" b="0">
                <a:solidFill>
                  <a:srgbClr val="0A0A0A"/>
                </a:solidFill>
                <a:latin typeface="Arial"/>
              </a:defRPr>
            </a:pPr>
            <a:r>
              <a:t>1  Recall earlier runs for this idea (Meterless H-MEM)</a:t>
            </a:r>
          </a:p>
          <a:p>
            <a:pPr algn="l">
              <a:spcAft>
                <a:spcPts val="600"/>
              </a:spcAft>
              <a:defRPr sz="2000" b="0">
                <a:solidFill>
                  <a:srgbClr val="0A0A0A"/>
                </a:solidFill>
                <a:latin typeface="Arial"/>
              </a:defRPr>
            </a:pPr>
            <a:r>
              <a:t>2  Read dated model prices (Zetaris)</a:t>
            </a:r>
          </a:p>
          <a:p>
            <a:pPr algn="l">
              <a:spcAft>
                <a:spcPts val="600"/>
              </a:spcAft>
              <a:defRPr sz="2000" b="0">
                <a:solidFill>
                  <a:srgbClr val="0A0A0A"/>
                </a:solidFill>
                <a:latin typeface="Arial"/>
              </a:defRPr>
            </a:pPr>
            <a:r>
              <a:t>3  Pick frontier / mid-tier / open-source candidates per feature (Nightshift routes)</a:t>
            </a:r>
          </a:p>
          <a:p>
            <a:pPr algn="l">
              <a:spcAft>
                <a:spcPts val="600"/>
              </a:spcAft>
              <a:defRPr sz="2000" b="0">
                <a:solidFill>
                  <a:srgbClr val="0A0A0A"/>
                </a:solidFill>
                <a:latin typeface="Arial"/>
              </a:defRPr>
            </a:pPr>
            <a:r>
              <a:t>4  With approval + spend cap, run example inputs on models that can be measured</a:t>
            </a:r>
          </a:p>
          <a:p>
            <a:pPr algn="l">
              <a:spcAft>
                <a:spcPts val="600"/>
              </a:spcAft>
              <a:defRPr sz="2000" b="0">
                <a:solidFill>
                  <a:srgbClr val="0A0A0A"/>
                </a:solidFill>
                <a:latin typeface="Arial"/>
              </a:defRPr>
            </a:pPr>
            <a:r>
              <a:t>5  Deterministic quality checks; Critic flags problems (does not grade)</a:t>
            </a:r>
          </a:p>
          <a:p>
            <a:pPr algn="l">
              <a:spcAft>
                <a:spcPts val="600"/>
              </a:spcAft>
              <a:defRPr sz="2000" b="0">
                <a:solidFill>
                  <a:srgbClr val="0A0A0A"/>
                </a:solidFill>
                <a:latin typeface="Arial"/>
              </a:defRPr>
            </a:pPr>
            <a:r>
              <a:t>6  Project costs by growth stage; write evidence back to Zetaris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972800" cy="411480"/>
          </a:xfrm>
          <a:prstGeom prst="rect">
            <a:avLst/>
          </a:prstGeom>
          <a:noFill/>
        </p:spPr>
        <p:txBody>
          <a:bodyPr wrap="square">
            <a:spAutoFit/>
          </a:bodyPr>
          <a:lstStyle/>
          <a:p>
            <a:pPr algn="l">
              <a:spcAft>
                <a:spcPts val="600"/>
              </a:spcAft>
              <a:defRPr sz="2200" b="1">
                <a:solidFill>
                  <a:srgbClr val="FFFF00"/>
                </a:solidFill>
                <a:latin typeface="Arial"/>
              </a:defRPr>
            </a:pPr>
            <a:r>
              <a:t>Brief — idea, features, stages (Streamlit UI)</a:t>
            </a:r>
          </a:p>
        </p:txBody>
      </p:sp>
      <p:pic>
        <p:nvPicPr>
          <p:cNvPr id="4" name="Picture 3" descr="latest-hero.png"/>
          <p:cNvPicPr>
            <a:picLocks noChangeAspect="1"/>
          </p:cNvPicPr>
          <p:nvPr/>
        </p:nvPicPr>
        <p:blipFill>
          <a:blip r:embed="rId2"/>
          <a:stretch>
            <a:fillRect/>
          </a:stretch>
        </p:blipFill>
        <p:spPr>
          <a:xfrm>
            <a:off x="457200" y="822960"/>
            <a:ext cx="11247120" cy="702945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972800" cy="411480"/>
          </a:xfrm>
          <a:prstGeom prst="rect">
            <a:avLst/>
          </a:prstGeom>
          <a:noFill/>
        </p:spPr>
        <p:txBody>
          <a:bodyPr wrap="square">
            <a:spAutoFit/>
          </a:bodyPr>
          <a:lstStyle/>
          <a:p>
            <a:pPr algn="l">
              <a:spcAft>
                <a:spcPts val="600"/>
              </a:spcAft>
              <a:defRPr sz="2200" b="1">
                <a:solidFill>
                  <a:srgbClr val="FFFF00"/>
                </a:solidFill>
                <a:latin typeface="Arial"/>
              </a:defRPr>
            </a:pPr>
            <a:r>
              <a:t>Run — approval, spend cap, Planner → Analyst → Critic</a:t>
            </a:r>
          </a:p>
        </p:txBody>
      </p:sp>
      <p:pic>
        <p:nvPicPr>
          <p:cNvPr id="4" name="Picture 3" descr="latest-run.png"/>
          <p:cNvPicPr>
            <a:picLocks noChangeAspect="1"/>
          </p:cNvPicPr>
          <p:nvPr/>
        </p:nvPicPr>
        <p:blipFill>
          <a:blip r:embed="rId2"/>
          <a:stretch>
            <a:fillRect/>
          </a:stretch>
        </p:blipFill>
        <p:spPr>
          <a:xfrm>
            <a:off x="457200" y="822960"/>
            <a:ext cx="11247120" cy="702945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0972800" cy="548640"/>
          </a:xfrm>
          <a:prstGeom prst="rect">
            <a:avLst/>
          </a:prstGeom>
          <a:noFill/>
        </p:spPr>
        <p:txBody>
          <a:bodyPr wrap="square">
            <a:spAutoFit/>
          </a:bodyPr>
          <a:lstStyle/>
          <a:p>
            <a:pPr algn="l">
              <a:spcAft>
                <a:spcPts val="600"/>
              </a:spcAft>
              <a:defRPr sz="2800" b="1">
                <a:solidFill>
                  <a:srgbClr val="FFFFFF"/>
                </a:solidFill>
                <a:latin typeface="Arial"/>
              </a:defRPr>
            </a:pPr>
            <a:r>
              <a:t>Sponsor tech in the workflow</a:t>
            </a:r>
          </a:p>
        </p:txBody>
      </p:sp>
      <p:sp>
        <p:nvSpPr>
          <p:cNvPr id="6" name="Rectangle 5"/>
          <p:cNvSpPr/>
          <p:nvPr/>
        </p:nvSpPr>
        <p:spPr>
          <a:xfrm>
            <a:off x="548640" y="1371600"/>
            <a:ext cx="11064240" cy="105156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137160" cy="105156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08760"/>
            <a:ext cx="10515600" cy="365760"/>
          </a:xfrm>
          <a:prstGeom prst="rect">
            <a:avLst/>
          </a:prstGeom>
          <a:noFill/>
        </p:spPr>
        <p:txBody>
          <a:bodyPr wrap="square">
            <a:spAutoFit/>
          </a:bodyPr>
          <a:lstStyle/>
          <a:p>
            <a:pPr algn="l">
              <a:spcAft>
                <a:spcPts val="600"/>
              </a:spcAft>
              <a:defRPr sz="1800" b="1">
                <a:solidFill>
                  <a:srgbClr val="0A0A0A"/>
                </a:solidFill>
                <a:latin typeface="Arial"/>
              </a:defRPr>
            </a:pPr>
            <a:r>
              <a:t>Zetaris</a:t>
            </a:r>
          </a:p>
        </p:txBody>
      </p:sp>
      <p:sp>
        <p:nvSpPr>
          <p:cNvPr id="9" name="TextBox 8"/>
          <p:cNvSpPr txBox="1"/>
          <p:nvPr/>
        </p:nvSpPr>
        <p:spPr>
          <a:xfrm>
            <a:off x="914400" y="1874519"/>
            <a:ext cx="10515600" cy="411480"/>
          </a:xfrm>
          <a:prstGeom prst="rect">
            <a:avLst/>
          </a:prstGeom>
          <a:noFill/>
        </p:spPr>
        <p:txBody>
          <a:bodyPr wrap="square">
            <a:spAutoFit/>
          </a:bodyPr>
          <a:lstStyle/>
          <a:p>
            <a:pPr algn="l">
              <a:spcAft>
                <a:spcPts val="600"/>
              </a:spcAft>
              <a:defRPr sz="1600" b="0">
                <a:solidFill>
                  <a:srgbClr val="3A3A3A"/>
                </a:solidFill>
                <a:latin typeface="Arial"/>
              </a:defRPr>
            </a:pPr>
            <a:r>
              <a:t>Dated price snapshots in; measured evidence out (publisher + outbox replay)</a:t>
            </a:r>
          </a:p>
        </p:txBody>
      </p:sp>
      <p:sp>
        <p:nvSpPr>
          <p:cNvPr id="10" name="Rectangle 9"/>
          <p:cNvSpPr/>
          <p:nvPr/>
        </p:nvSpPr>
        <p:spPr>
          <a:xfrm>
            <a:off x="548640" y="2560320"/>
            <a:ext cx="11064240" cy="105156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560320"/>
            <a:ext cx="137160" cy="105156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97479"/>
            <a:ext cx="10515600" cy="365760"/>
          </a:xfrm>
          <a:prstGeom prst="rect">
            <a:avLst/>
          </a:prstGeom>
          <a:noFill/>
        </p:spPr>
        <p:txBody>
          <a:bodyPr wrap="square">
            <a:spAutoFit/>
          </a:bodyPr>
          <a:lstStyle/>
          <a:p>
            <a:pPr algn="l">
              <a:spcAft>
                <a:spcPts val="600"/>
              </a:spcAft>
              <a:defRPr sz="1800" b="1">
                <a:solidFill>
                  <a:srgbClr val="0A0A0A"/>
                </a:solidFill>
                <a:latin typeface="Arial"/>
              </a:defRPr>
            </a:pPr>
            <a:r>
              <a:t>Meterless Nightshift</a:t>
            </a:r>
          </a:p>
        </p:txBody>
      </p:sp>
      <p:sp>
        <p:nvSpPr>
          <p:cNvPr id="13" name="TextBox 12"/>
          <p:cNvSpPr txBox="1"/>
          <p:nvPr/>
        </p:nvSpPr>
        <p:spPr>
          <a:xfrm>
            <a:off x="914400" y="3063239"/>
            <a:ext cx="10515600" cy="411480"/>
          </a:xfrm>
          <a:prstGeom prst="rect">
            <a:avLst/>
          </a:prstGeom>
          <a:noFill/>
        </p:spPr>
        <p:txBody>
          <a:bodyPr wrap="square">
            <a:spAutoFit/>
          </a:bodyPr>
          <a:lstStyle/>
          <a:p>
            <a:pPr algn="l">
              <a:spcAft>
                <a:spcPts val="600"/>
              </a:spcAft>
              <a:defRPr sz="1600" b="0">
                <a:solidFill>
                  <a:srgbClr val="3A3A3A"/>
                </a:solidFill>
                <a:latin typeface="Arial"/>
              </a:defRPr>
            </a:pPr>
            <a:r>
              <a:t>Every model call — Planner, candidates, Critic, one repair — with spend reservation</a:t>
            </a:r>
          </a:p>
        </p:txBody>
      </p:sp>
      <p:sp>
        <p:nvSpPr>
          <p:cNvPr id="14" name="Rectangle 13"/>
          <p:cNvSpPr/>
          <p:nvPr/>
        </p:nvSpPr>
        <p:spPr>
          <a:xfrm>
            <a:off x="548640" y="3749039"/>
            <a:ext cx="11064240" cy="105156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49039"/>
            <a:ext cx="137160" cy="105156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86200"/>
            <a:ext cx="10515600" cy="365760"/>
          </a:xfrm>
          <a:prstGeom prst="rect">
            <a:avLst/>
          </a:prstGeom>
          <a:noFill/>
        </p:spPr>
        <p:txBody>
          <a:bodyPr wrap="square">
            <a:spAutoFit/>
          </a:bodyPr>
          <a:lstStyle/>
          <a:p>
            <a:pPr algn="l">
              <a:spcAft>
                <a:spcPts val="600"/>
              </a:spcAft>
              <a:defRPr sz="1800" b="1">
                <a:solidFill>
                  <a:srgbClr val="0A0A0A"/>
                </a:solidFill>
                <a:latin typeface="Arial"/>
              </a:defRPr>
            </a:pPr>
            <a:r>
              <a:t>Meterless H-MEM</a:t>
            </a:r>
          </a:p>
        </p:txBody>
      </p:sp>
      <p:sp>
        <p:nvSpPr>
          <p:cNvPr id="17" name="TextBox 16"/>
          <p:cNvSpPr txBox="1"/>
          <p:nvPr/>
        </p:nvSpPr>
        <p:spPr>
          <a:xfrm>
            <a:off x="914400" y="4251959"/>
            <a:ext cx="10515600" cy="411480"/>
          </a:xfrm>
          <a:prstGeom prst="rect">
            <a:avLst/>
          </a:prstGeom>
          <a:noFill/>
        </p:spPr>
        <p:txBody>
          <a:bodyPr wrap="square">
            <a:spAutoFit/>
          </a:bodyPr>
          <a:lstStyle/>
          <a:p>
            <a:pPr algn="l">
              <a:spcAft>
                <a:spcPts val="600"/>
              </a:spcAft>
              <a:defRPr sz="1600" b="0">
                <a:solidFill>
                  <a:srgbClr val="3A3A3A"/>
                </a:solidFill>
                <a:latin typeface="Arial"/>
              </a:defRPr>
            </a:pPr>
            <a:r>
              <a:t>Idea memory: recall confirmed assumptions; save accepted decisions</a:t>
            </a:r>
          </a:p>
        </p:txBody>
      </p:sp>
      <p:sp>
        <p:nvSpPr>
          <p:cNvPr id="18" name="Rectangle 17"/>
          <p:cNvSpPr/>
          <p:nvPr/>
        </p:nvSpPr>
        <p:spPr>
          <a:xfrm>
            <a:off x="548640" y="4937759"/>
            <a:ext cx="11064240" cy="105156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937759"/>
            <a:ext cx="137160" cy="105156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074920"/>
            <a:ext cx="10515600" cy="365760"/>
          </a:xfrm>
          <a:prstGeom prst="rect">
            <a:avLst/>
          </a:prstGeom>
          <a:noFill/>
        </p:spPr>
        <p:txBody>
          <a:bodyPr wrap="square">
            <a:spAutoFit/>
          </a:bodyPr>
          <a:lstStyle/>
          <a:p>
            <a:pPr algn="l">
              <a:spcAft>
                <a:spcPts val="600"/>
              </a:spcAft>
              <a:defRPr sz="1800" b="1">
                <a:solidFill>
                  <a:srgbClr val="0A0A0A"/>
                </a:solidFill>
                <a:latin typeface="Arial"/>
              </a:defRPr>
            </a:pPr>
            <a:r>
              <a:t>NVIDIA Nemotron</a:t>
            </a:r>
          </a:p>
        </p:txBody>
      </p:sp>
      <p:sp>
        <p:nvSpPr>
          <p:cNvPr id="21" name="TextBox 20"/>
          <p:cNvSpPr txBox="1"/>
          <p:nvPr/>
        </p:nvSpPr>
        <p:spPr>
          <a:xfrm>
            <a:off x="914400" y="5440679"/>
            <a:ext cx="10515600" cy="411480"/>
          </a:xfrm>
          <a:prstGeom prst="rect">
            <a:avLst/>
          </a:prstGeom>
          <a:noFill/>
        </p:spPr>
        <p:txBody>
          <a:bodyPr wrap="square">
            <a:spAutoFit/>
          </a:bodyPr>
          <a:lstStyle/>
          <a:p>
            <a:pPr algn="l">
              <a:spcAft>
                <a:spcPts val="600"/>
              </a:spcAft>
              <a:defRPr sz="1600" b="0">
                <a:solidFill>
                  <a:srgbClr val="3A3A3A"/>
                </a:solidFill>
                <a:latin typeface="Arial"/>
              </a:defRPr>
            </a:pPr>
            <a:r>
              <a:t>Planner on Lightning; Critic on Ultra — both through Nightshift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972800" cy="411480"/>
          </a:xfrm>
          <a:prstGeom prst="rect">
            <a:avLst/>
          </a:prstGeom>
          <a:noFill/>
        </p:spPr>
        <p:txBody>
          <a:bodyPr wrap="square">
            <a:spAutoFit/>
          </a:bodyPr>
          <a:lstStyle/>
          <a:p>
            <a:pPr algn="l">
              <a:spcAft>
                <a:spcPts val="600"/>
              </a:spcAft>
              <a:defRPr sz="2200" b="1">
                <a:solidFill>
                  <a:srgbClr val="FFFF00"/>
                </a:solidFill>
                <a:latin typeface="Arial"/>
              </a:defRPr>
            </a:pPr>
            <a:r>
              <a:t>Results — monthly AI cost by growth stage</a:t>
            </a:r>
          </a:p>
        </p:txBody>
      </p:sp>
      <p:pic>
        <p:nvPicPr>
          <p:cNvPr id="4" name="Picture 3" descr="latest-results.png"/>
          <p:cNvPicPr>
            <a:picLocks noChangeAspect="1"/>
          </p:cNvPicPr>
          <p:nvPr/>
        </p:nvPicPr>
        <p:blipFill>
          <a:blip r:embed="rId2"/>
          <a:stretch>
            <a:fillRect/>
          </a:stretch>
        </p:blipFill>
        <p:spPr>
          <a:xfrm>
            <a:off x="457200" y="822960"/>
            <a:ext cx="11247120" cy="702945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0972800" cy="548640"/>
          </a:xfrm>
          <a:prstGeom prst="rect">
            <a:avLst/>
          </a:prstGeom>
          <a:noFill/>
        </p:spPr>
        <p:txBody>
          <a:bodyPr wrap="square">
            <a:spAutoFit/>
          </a:bodyPr>
          <a:lstStyle/>
          <a:p>
            <a:pPr algn="l">
              <a:spcAft>
                <a:spcPts val="600"/>
              </a:spcAft>
              <a:defRPr sz="2600" b="1">
                <a:solidFill>
                  <a:srgbClr val="0A0A0A"/>
                </a:solidFill>
                <a:latin typeface="Arial"/>
              </a:defRPr>
            </a:pPr>
            <a:r>
              <a:t>Explain why — measured vs estimated · checks · Critic</a:t>
            </a:r>
          </a:p>
        </p:txBody>
      </p:sp>
      <p:sp>
        <p:nvSpPr>
          <p:cNvPr id="6" name="TextBox 5"/>
          <p:cNvSpPr txBox="1"/>
          <p:nvPr/>
        </p:nvSpPr>
        <p:spPr>
          <a:xfrm>
            <a:off x="548640" y="1371600"/>
            <a:ext cx="5669280" cy="3657600"/>
          </a:xfrm>
          <a:prstGeom prst="rect">
            <a:avLst/>
          </a:prstGeom>
          <a:noFill/>
        </p:spPr>
        <p:txBody>
          <a:bodyPr wrap="square">
            <a:spAutoFit/>
          </a:bodyPr>
          <a:lstStyle/>
          <a:p>
            <a:pPr algn="l">
              <a:spcAft>
                <a:spcPts val="600"/>
              </a:spcAft>
              <a:defRPr sz="1800" b="0">
                <a:solidFill>
                  <a:srgbClr val="0A0A0A"/>
                </a:solidFill>
                <a:latin typeface="Arial"/>
              </a:defRPr>
            </a:pPr>
            <a:r>
              <a:t>Estimated tokens next to API-measured counts</a:t>
            </a:r>
          </a:p>
          <a:p>
            <a:pPr algn="l">
              <a:spcAft>
                <a:spcPts val="600"/>
              </a:spcAft>
              <a:defRPr sz="1800" b="0">
                <a:solidFill>
                  <a:srgbClr val="0A0A0A"/>
                </a:solidFill>
                <a:latin typeface="Arial"/>
              </a:defRPr>
            </a:pPr>
            <a:r>
              <a:t>Unrun models: “projected only” — not guessed</a:t>
            </a:r>
          </a:p>
          <a:p>
            <a:pPr algn="l">
              <a:spcAft>
                <a:spcPts val="600"/>
              </a:spcAft>
              <a:defRPr sz="1800" b="0">
                <a:solidFill>
                  <a:srgbClr val="0A0A0A"/>
                </a:solidFill>
                <a:latin typeface="Arial"/>
              </a:defRPr>
            </a:pPr>
            <a:r>
              <a:t>Deterministic pass/fail + pending human review</a:t>
            </a:r>
          </a:p>
          <a:p>
            <a:pPr algn="l">
              <a:spcAft>
                <a:spcPts val="600"/>
              </a:spcAft>
              <a:defRPr sz="1800" b="0">
                <a:solidFill>
                  <a:srgbClr val="0A0A0A"/>
                </a:solidFill>
                <a:latin typeface="Arial"/>
              </a:defRPr>
            </a:pPr>
            <a:r>
              <a:t>Critic flags issues; controller validates one action</a:t>
            </a:r>
          </a:p>
          <a:p>
            <a:pPr algn="l">
              <a:spcAft>
                <a:spcPts val="600"/>
              </a:spcAft>
              <a:defRPr sz="1800" b="0">
                <a:solidFill>
                  <a:srgbClr val="0A0A0A"/>
                </a:solidFill>
                <a:latin typeface="Arial"/>
              </a:defRPr>
            </a:pPr>
            <a:r>
              <a:t>Full JSONL trace: every Zetaris query &amp; model request</a:t>
            </a:r>
          </a:p>
        </p:txBody>
      </p:sp>
      <p:pic>
        <p:nvPicPr>
          <p:cNvPr id="7" name="Picture 6" descr="superdesign-draft-1.png"/>
          <p:cNvPicPr>
            <a:picLocks noChangeAspect="1"/>
          </p:cNvPicPr>
          <p:nvPr/>
        </p:nvPicPr>
        <p:blipFill>
          <a:blip r:embed="rId2"/>
          <a:stretch>
            <a:fillRect/>
          </a:stretch>
        </p:blipFill>
        <p:spPr>
          <a:xfrm>
            <a:off x="6400800" y="1371600"/>
            <a:ext cx="5120640" cy="3200400"/>
          </a:xfrm>
          <a:prstGeom prst="rect">
            <a:avLst/>
          </a:prstGeom>
        </p:spPr>
      </p:pic>
      <p:sp>
        <p:nvSpPr>
          <p:cNvPr id="8" name="TextBox 7"/>
          <p:cNvSpPr txBox="1"/>
          <p:nvPr/>
        </p:nvSpPr>
        <p:spPr>
          <a:xfrm>
            <a:off x="6400800" y="5943600"/>
            <a:ext cx="5120640" cy="365760"/>
          </a:xfrm>
          <a:prstGeom prst="rect">
            <a:avLst/>
          </a:prstGeom>
          <a:noFill/>
        </p:spPr>
        <p:txBody>
          <a:bodyPr wrap="square">
            <a:spAutoFit/>
          </a:bodyPr>
          <a:lstStyle/>
          <a:p>
            <a:pPr algn="l">
              <a:spcAft>
                <a:spcPts val="600"/>
              </a:spcAft>
              <a:defRPr sz="1100" b="0">
                <a:solidFill>
                  <a:srgbClr val="555555"/>
                </a:solidFill>
                <a:latin typeface="Arial"/>
              </a:defRPr>
            </a:pPr>
            <a:r>
              <a:t>UI exploration draft (Superdesign) — Streamlit ships the live Brief→Run→Results 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972800" cy="914400"/>
          </a:xfrm>
          <a:prstGeom prst="rect">
            <a:avLst/>
          </a:prstGeom>
          <a:noFill/>
        </p:spPr>
        <p:txBody>
          <a:bodyPr wrap="square">
            <a:spAutoFit/>
          </a:bodyPr>
          <a:lstStyle/>
          <a:p>
            <a:pPr algn="l">
              <a:spcAft>
                <a:spcPts val="600"/>
              </a:spcAft>
              <a:defRPr sz="3200" b="1">
                <a:solidFill>
                  <a:srgbClr val="0A0A0A"/>
                </a:solidFill>
                <a:latin typeface="Arial"/>
              </a:defRPr>
            </a:pPr>
            <a:r>
              <a:t>Know what your AI will cost before you build.</a:t>
            </a:r>
          </a:p>
        </p:txBody>
      </p:sp>
      <p:sp>
        <p:nvSpPr>
          <p:cNvPr id="5" name="TextBox 4"/>
          <p:cNvSpPr txBox="1"/>
          <p:nvPr/>
        </p:nvSpPr>
        <p:spPr>
          <a:xfrm>
            <a:off x="640080" y="2560320"/>
            <a:ext cx="10972800" cy="1371600"/>
          </a:xfrm>
          <a:prstGeom prst="rect">
            <a:avLst/>
          </a:prstGeom>
          <a:noFill/>
        </p:spPr>
        <p:txBody>
          <a:bodyPr wrap="square">
            <a:spAutoFit/>
          </a:bodyPr>
          <a:lstStyle/>
          <a:p>
            <a:pPr algn="l">
              <a:spcAft>
                <a:spcPts val="600"/>
              </a:spcAft>
              <a:defRPr sz="2000" b="0">
                <a:solidFill>
                  <a:srgbClr val="3A3A3A"/>
                </a:solidFill>
                <a:latin typeface="Arial"/>
              </a:defRPr>
            </a:pPr>
            <a:r>
              <a:t>Zetaris · Meterless Nightshift · Meterless H-MEM · NVIDIA Nemotron</a:t>
            </a:r>
          </a:p>
          <a:p>
            <a:pPr algn="l">
              <a:spcAft>
                <a:spcPts val="600"/>
              </a:spcAft>
              <a:defRPr sz="2000" b="0">
                <a:solidFill>
                  <a:srgbClr val="3A3A3A"/>
                </a:solidFill>
                <a:latin typeface="Arial"/>
              </a:defRPr>
            </a:pPr>
            <a:r>
              <a:t>Open source · sample mode works offline with no accounts</a:t>
            </a:r>
          </a:p>
        </p:txBody>
      </p:sp>
      <p:sp>
        <p:nvSpPr>
          <p:cNvPr id="6" name="TextBox 5"/>
          <p:cNvSpPr txBox="1"/>
          <p:nvPr/>
        </p:nvSpPr>
        <p:spPr>
          <a:xfrm>
            <a:off x="640080" y="4206240"/>
            <a:ext cx="10972800" cy="914400"/>
          </a:xfrm>
          <a:prstGeom prst="rect">
            <a:avLst/>
          </a:prstGeom>
          <a:noFill/>
        </p:spPr>
        <p:txBody>
          <a:bodyPr wrap="square">
            <a:spAutoFit/>
          </a:bodyPr>
          <a:lstStyle/>
          <a:p>
            <a:pPr algn="l">
              <a:spcAft>
                <a:spcPts val="600"/>
              </a:spcAft>
              <a:defRPr sz="1800" b="1">
                <a:solidFill>
                  <a:srgbClr val="0000FF"/>
                </a:solidFill>
                <a:latin typeface="Arial"/>
              </a:defRPr>
            </a:pPr>
            <a:r>
              <a:t>github.com/pradeepgnd/cost-optimizer</a:t>
            </a:r>
          </a:p>
          <a:p>
            <a:pPr algn="l">
              <a:spcAft>
                <a:spcPts val="600"/>
              </a:spcAft>
              <a:defRPr sz="1800" b="1">
                <a:solidFill>
                  <a:srgbClr val="0000FF"/>
                </a:solidFill>
                <a:latin typeface="Arial"/>
              </a:defRPr>
            </a:pPr>
            <a:r>
              <a:t>python -m streamlit run streamlit_app.py</a:t>
            </a:r>
          </a:p>
        </p:txBody>
      </p:sp>
      <p:sp>
        <p:nvSpPr>
          <p:cNvPr id="7" name="TextBox 6"/>
          <p:cNvSpPr txBox="1"/>
          <p:nvPr/>
        </p:nvSpPr>
        <p:spPr>
          <a:xfrm>
            <a:off x="640080" y="5852160"/>
            <a:ext cx="10972800" cy="365760"/>
          </a:xfrm>
          <a:prstGeom prst="rect">
            <a:avLst/>
          </a:prstGeom>
          <a:noFill/>
        </p:spPr>
        <p:txBody>
          <a:bodyPr wrap="square">
            <a:spAutoFit/>
          </a:bodyPr>
          <a:lstStyle/>
          <a:p>
            <a:pPr algn="l">
              <a:spcAft>
                <a:spcPts val="600"/>
              </a:spcAft>
              <a:defRPr sz="1200" b="0">
                <a:solidFill>
                  <a:srgbClr val="555555"/>
                </a:solidFill>
                <a:latin typeface="Arial"/>
              </a:defRPr>
            </a:pPr>
            <a:r>
              <a:t>Estimates and measurements — not financial advice. Unknown stays unknown.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